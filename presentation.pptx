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🏪  Retail Supply Chain Optimization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FF"/>
                </a:solidFill>
              </a:rPr>
              <a:t>Multi-Agent Agentic AI System for Enterprise Retail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DD8E6"/>
                </a:solidFill>
              </a:rPr>
              <a:t>Powered by Claude claude-sonnet-4-6  ·  LangGraph  · 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DD8E6"/>
                </a:solidFill>
              </a:rPr>
              <a:t>Interview Kickstart — Agentic AI Capstone Project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Problem: Decisions Don't Live in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Every supply chain decision cascades across 5 domains simultaneously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0" cy="4389120"/>
          </a:xfrm>
          <a:prstGeom prst="rect">
            <a:avLst/>
          </a:prstGeom>
          <a:solidFill>
            <a:srgbClr val="F0F4FF"/>
          </a:solidFill>
          <a:ln w="9525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E"/>
                </a:solidFill>
              </a:rPr>
              <a:t>A 10% diaper price increase triggers: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  📉  -14% demand volume (elasticity = -1.4)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  📦  Replenishment PO recalculation across 4 DCs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  🚛  Carrier load change in SE and MW regions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  💰  Margin shift after vendor trade dollar netting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  ⚠️   Potential conflict with active promotions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486400" cy="4389120"/>
          </a:xfrm>
          <a:prstGeom prst="rect">
            <a:avLst/>
          </a:prstGeom>
          <a:solidFill>
            <a:srgbClr val="FFF3CD"/>
          </a:solidFill>
          <a:ln w="952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56404"/>
                </a:solidFill>
              </a:rPr>
              <a:t>Why this matters: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3C00"/>
                </a:solidFill>
              </a:rPr>
              <a:t>→  Human expert: 2–4 hours per decision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3C00"/>
                </a:solidFill>
              </a:rPr>
              <a:t>→  This system: seconds, fully connected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3C00"/>
                </a:solidFill>
              </a:rPr>
              <a:t>→  Pricing ↔ Demand ↔ Inventory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3C00"/>
                </a:solidFill>
              </a:rPr>
              <a:t>→  Supply Chain ↔ Finance — all linked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3C00"/>
                </a:solidFill>
              </a:rPr>
              <a:t>→  $1B+ decisions made daily in retail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760720"/>
            <a:ext cx="11430000" cy="64008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$1B+ revenue decisions in retail require connected, real-time AI reasoning — not spreadsheets.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Two pipelines · 17 tools · 11-tab Streamlit UI · Deployed on Streamlit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2377440"/>
          </a:xfrm>
          <a:prstGeom prst="rect">
            <a:avLst/>
          </a:prstGeom>
          <a:solidFill>
            <a:srgbClr val="CCE5FF"/>
          </a:solidFill>
          <a:ln w="9525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E"/>
                </a:solidFill>
              </a:rPr>
              <a:t>V1 — Agentic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Single Claude claude-sonnet-4-6 agent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All 17 tools available simultaneously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Adaptive iterations: 6 / 10 / 20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History summarization at 12 messages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Configurable via sidebar slider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80160"/>
            <a:ext cx="5806440" cy="2377440"/>
          </a:xfrm>
          <a:prstGeom prst="rect">
            <a:avLst/>
          </a:prstGeom>
          <a:solidFill>
            <a:srgbClr val="D4EDDA"/>
          </a:solidFill>
          <a:ln w="9525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71600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</a:rPr>
              <a:t>V2 — LangGraph Multi-Agent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5532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12 specialist nodes in directed graph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Router → Domain Nodes → Synthesizer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Each node: curated tools + focused prompt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Node-by-node execution trace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✓  Conditional edges per intent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94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E"/>
                </a:solidFill>
              </a:rPr>
              <a:t>17 Operational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60520"/>
            <a:ext cx="2139696" cy="2331720"/>
          </a:xfrm>
          <a:prstGeom prst="rect">
            <a:avLst/>
          </a:prstGeom>
          <a:solidFill>
            <a:srgbClr val="CCE5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4206240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52628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simulate_price_change
get_competitive_pricing
adjust_promotional_price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4160520"/>
            <a:ext cx="2139696" cy="2331720"/>
          </a:xfrm>
          <a:prstGeom prst="rect">
            <a:avLst/>
          </a:prstGeom>
          <a:solidFill>
            <a:srgbClr val="D4EDD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4206240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52628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get_demand_forecast
get_forecast_accuracy
analyze_demand_variables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1456" y="4160520"/>
            <a:ext cx="2139696" cy="2331720"/>
          </a:xfrm>
          <a:prstGeom prst="rect">
            <a:avLst/>
          </a:prstGeom>
          <a:solidFill>
            <a:srgbClr val="FFF3CD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4206240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452628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get_inventory_levels
calculate_stockout_risk
get_reorder_recommendations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4304" y="4160520"/>
            <a:ext cx="2139696" cy="2331720"/>
          </a:xfrm>
          <a:prstGeom prst="rect">
            <a:avLst/>
          </a:prstGeom>
          <a:solidFill>
            <a:srgbClr val="F8D7D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6" y="4206240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Supply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452628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get_carrier_status
find_alternate_carriers
get_dc_inventory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2" y="4160520"/>
            <a:ext cx="2139696" cy="2331720"/>
          </a:xfrm>
          <a:prstGeom prst="rect">
            <a:avLst/>
          </a:prstGeom>
          <a:solidFill>
            <a:srgbClr val="E8D5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4206240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Finance &amp; Scenario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452628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calculate_revenue_impact
calculate_carrying_cost
detect_scenario_conflicts
compare_scenarios
get_replenishment_schedule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LangGraph V2 routing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A1A2E"/>
                </a:solidFill>
                <a:latin typeface="Courier New"/>
              </a:rPr>
              <a:t>                    USER QUERY
                         │
                         ▼
               ┌──────────────────┐
               │     ROUTER       │  classifies intent, extracts SKU + entities
               └──────┬───────────┘
                      │
      ┌───────────┬───┴────────┬───────────┬──────────────┐
      ▼           ▼            ▼           ▼              ▼
  Price        Supply      Demand      Scenario      Shelf
  Cascade    Disruption   Forecast    Planning    Replenishment
      │           │            │                       │
      ▼           ▼            ▼                       ▼
  Inventory   Carrier      Accuracy               Perishable
  Node        Node         Gate                   Check
      │           │            │                       │
      └─────────┐ │ ┌──────────┘                       │
                ▼ ▼ ▼                                   │
           Financial                                    │
           Impact                                       │
                └───────────────┬───────────────────────┘
                                ▼
                       ┌────────────────┐
                       │  SYNTHESIZER   │  merges all node outputs
                       └────────┬───────┘
                                ▼
                              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17 Production-Grade Edge Cases Handled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810000" cy="46177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371856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Edge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75760" y="1234440"/>
            <a:ext cx="3810000" cy="46177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1480" y="1280160"/>
            <a:ext cx="371856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Behavior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85760" y="1234440"/>
            <a:ext cx="3810000" cy="46177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31480" y="1280160"/>
            <a:ext cx="371856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6212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32788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Asymmetric price elasticity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5760" y="1696212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1480" y="1732788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Tobacco/diapers recover 40–70% on price cuts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5760" y="1696212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1480" y="1732788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Prevents over-optimistic promo ROI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57984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94560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Perishable 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5760" y="2157984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1480" y="2194560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Dairy orders hard-capped at 3 days supply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60" y="2157984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1480" y="2194560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Eliminates markdown waste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19756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656332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Regional carrier 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5760" y="2619756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1480" y="2656332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 has only TruckCo D for diapers (+45%)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5760" y="2619756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1480" y="2656332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Surfaces hidden cost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81528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118104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Forecast accuracy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75760" y="3081528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1480" y="3118104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&lt;60% accuracy blocks PO 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85760" y="3081528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1480" y="3118104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Prevents bad-data-driven orders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543300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579876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CI widening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5760" y="3543300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1480" y="3579876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+15% per 4-week horizon period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85760" y="3543300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1480" y="3579876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Honest uncertainty at 8 weeks: ±30%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05072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041648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VMI exclusion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75760" y="4005072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1480" y="4041648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Vendor-managed inventory excl. from carrying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85760" y="4005072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1480" y="4041648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Accurate cost reporting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466844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503420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Vendor trade netting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75760" y="4466844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1480" y="4503420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Subsidies netted before margin reporting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85760" y="4466844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31480" y="4503420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True promo profitability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928616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965192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Replenishment lag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75760" y="4928616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21480" y="4965192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3–4 days + 30% chance of +3 extra days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85760" y="4928616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31480" y="4965192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Realistic lead time planning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390388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426964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Scenario conflict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75760" y="5390388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21480" y="5426964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Promo + supply disruption = CRITICAL flag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85760" y="5390388"/>
            <a:ext cx="3810000" cy="4617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31480" y="5426964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Prevents simultaneous blunders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852160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888736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Data provenance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75760" y="5852160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21480" y="5888736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OLAP (24h) vs WMS (15min) freshness warning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5760" y="5852160"/>
            <a:ext cx="3810000" cy="4617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31480" y="5888736"/>
            <a:ext cx="37185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Right data for right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Scenario: Carrier Strike + Promotion 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The system detects CRITICAL conflict and recommends deferring the promotion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731520"/>
          </a:xfrm>
          <a:prstGeom prst="rect">
            <a:avLst/>
          </a:prstGeom>
          <a:solidFill>
            <a:srgbClr val="FFF3CD"/>
          </a:solidFill>
          <a:ln w="952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56404"/>
                </a:solidFill>
              </a:rPr>
              <a:t>⚠️  TruckCo B (diapers, SE + MW) on strike · Category manager wants 10% promo price cut on HUG48-3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560320" cy="658368"/>
          </a:xfrm>
          <a:prstGeom prst="rect">
            <a:avLst/>
          </a:prstGeom>
          <a:solidFill>
            <a:srgbClr val="DC3545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 Conflict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103120"/>
            <a:ext cx="8823960" cy="65836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21284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CRITICAL: Promo creates +14% demand surge while supply is constrained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07792"/>
            <a:ext cx="2560320" cy="658368"/>
          </a:xfrm>
          <a:prstGeom prst="rect">
            <a:avLst/>
          </a:prstGeom>
          <a:solidFill>
            <a:srgbClr val="DC3545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2. Regional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907792"/>
            <a:ext cx="8823960" cy="65836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30175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SE has NO diaper carrier except TruckCo D — at +45% cost premium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12464"/>
            <a:ext cx="2560320" cy="658368"/>
          </a:xfrm>
          <a:prstGeom prst="rect">
            <a:avLst/>
          </a:prstGeom>
          <a:solidFill>
            <a:srgbClr val="F39C12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3. Days-of-Supply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712464"/>
            <a:ext cx="8823960" cy="65836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82219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DC-SE hits safety stock threshold in 4 days without alternate carrier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17136"/>
            <a:ext cx="2560320" cy="658368"/>
          </a:xfrm>
          <a:prstGeom prst="rect">
            <a:avLst/>
          </a:prstGeom>
          <a:solidFill>
            <a:srgbClr val="F39C12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268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4. Financial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517136"/>
            <a:ext cx="8823960" cy="65836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4626864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Revenue-at-risk: ~$890K over 14-day strike 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21808"/>
            <a:ext cx="2560320" cy="658368"/>
          </a:xfrm>
          <a:prstGeom prst="rect">
            <a:avLst/>
          </a:prstGeom>
          <a:solidFill>
            <a:srgbClr val="28A745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315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5. Recommendation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5321808"/>
            <a:ext cx="8823960" cy="65836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543153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Defer promotion until carrier restored OR pre-build DC-SE inventory 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❌  Proceed with promotion = stockout risk in SE within 4 days + 45% carrier premium eating all promo margin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Scenario: Full Price Cascade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Query: "Raise HUG48-3 diaper price from $12.99 to $14.49 — simulate full cascade"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810000" cy="57607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371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5760" y="1234440"/>
            <a:ext cx="3810000" cy="57607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1480" y="1280160"/>
            <a:ext cx="371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5760" y="1234440"/>
            <a:ext cx="3810000" cy="57607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480" y="1280160"/>
            <a:ext cx="371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10512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47088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Price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1810512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1480" y="1847088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Unit price increases +$1.50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760" y="1810512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1480" y="1847088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$12.99 → $14.49  (+11.5%)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86584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423160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Demand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5760" y="2386584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1480" y="2423160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Elasticity = -1.4 applied to price increase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5760" y="2386584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1480" y="2423160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-16.1% volume drop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62656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999232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Asymmetric 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760" y="2962656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1480" y="2999232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Recovery factor = 0.70 logged for future reversal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5760" y="2962656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1480" y="2999232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Applies only to price cuts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538728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575304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PO recalculation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5760" y="3538728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1480" y="3575304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Lower demand signal → smaller replenishment orders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5760" y="3538728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1480" y="3575304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-16% PO quantity across DCs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14800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151376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Margin impact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5760" y="4114800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1480" y="4151376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Higher price × lower volume — net effect calculated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5760" y="4114800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31480" y="4151376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+4.2% net revenue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90872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727448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Vendor trade netting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5760" y="4690872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1480" y="4727448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8% vendor subsidy on promos only — not triggered here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85760" y="4690872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31480" y="4727448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 promo subsidy applied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266944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303520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Carrying cost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75760" y="5266944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21480" y="5303520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Fewer owned units reduces inventory holding cost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85760" y="5266944"/>
            <a:ext cx="3810000" cy="57607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31480" y="5303520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-$12K annual carrying cost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43016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879592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Recommendation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5760" y="5843016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1480" y="5879592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Price increase accretive — carrier capacity headroom exists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85760" y="5843016"/>
            <a:ext cx="381000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31480" y="5879592"/>
            <a:ext cx="3718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✅ Recommend proceed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11-Tab Streamlit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Every tab is powered by the same mock data and tool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3566160" cy="45262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16736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📊  Dashboard  —  Live carrier status chips, DC inventory KPIs, strike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261872"/>
            <a:ext cx="3566160" cy="45262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316736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💬  Chat  —  Streaming V1/V2 agent with live tool tracking + node trace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261872"/>
            <a:ext cx="3566160" cy="45262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316736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🔺  Price Cascade  —  Price change → demand → PO → financial waterfall 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60220"/>
            <a:ext cx="3566160" cy="45262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15084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🚛  Supply Alert  —  Carrier strike → stockout bars → alternate carrier options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760220"/>
            <a:ext cx="3566160" cy="45262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815084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📈  Demand Forecast  —  8-week fan chart with CI widening + 15 variable contributions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760220"/>
            <a:ext cx="3566160" cy="45262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815084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⚖️  Scenario Planner  —  3-scenario side-by-side comparison + conflict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3566160" cy="45262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13432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🏬  Shelf &amp; Store  —  Replenishment Gantt + perishable cap + planogram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258568"/>
            <a:ext cx="3566160" cy="45262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313432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💰  Financial Impact  —  P&amp;L waterfall: revenue → margin → trade → VMI → 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258568"/>
            <a:ext cx="3566160" cy="452628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313432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🗄️  Data Sources  —  Provenance tracker — WMS vs OLAP freshness comparison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56916"/>
            <a:ext cx="3566160" cy="452628"/>
          </a:xfrm>
          <a:prstGeom prst="rect">
            <a:avLst/>
          </a:prstGeom>
          <a:solidFill>
            <a:srgbClr val="CCE5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11780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🔄  Workflow  —  Step-by-step integrated scenario builder + ripple timeline (NEW)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2756916"/>
            <a:ext cx="3566160" cy="452628"/>
          </a:xfrm>
          <a:prstGeom prst="rect">
            <a:avLst/>
          </a:prstGeom>
          <a:solidFill>
            <a:srgbClr val="CCE5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2811780"/>
            <a:ext cx="34747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🗺️  Flow Map  —  LangGraph DAG with live green/gray execution trace (NEW)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1CE"/>
                </a:solidFill>
              </a:rPr>
              <a:t>Blue tabs = new in this release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Was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Technical + business capabilities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94960" cy="5303520"/>
          </a:xfrm>
          <a:prstGeom prst="rect">
            <a:avLst/>
          </a:prstGeom>
          <a:solidFill>
            <a:srgbClr val="F0F4FF"/>
          </a:solidFill>
          <a:ln w="9525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E"/>
                </a:solidFill>
              </a:rPr>
              <a:t>Technical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Full multi-agent agentic loop (V1)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LangGraph 12-node directed graph (V2)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17 domain tools with realistic mock data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Asymmetric elasticity modeling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Scenario conflict detection engine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Data provenance tracking (OLAP/WMS/OLTP)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Context window management (12-msg threshold)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Streaming UI with live tool tracking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Deployed on Streamlit Community Cloud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GitHub repository with full 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440680" cy="5303520"/>
          </a:xfrm>
          <a:prstGeom prst="rect">
            <a:avLst/>
          </a:prstGeom>
          <a:solidFill>
            <a:srgbClr val="D4EDDA"/>
          </a:solidFill>
          <a:ln w="9525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Business Logic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Price → demand → PO → financial cascade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Regional carrier gap detection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Perishable inventory capping (3-day hard cap)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Vendor trade dollar netting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VMI exclusion from carrying costs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Forecast accuracy gating (60% floor)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Multi-scenario comparison with ranking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Replenishment chain lag modeling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Planogram overflow handling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✅  GUIDE.md specialist decision-maker reference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234440"/>
            <a:ext cx="457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347472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757D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V1 vs V2 Pipeline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Same tools and data layer — different reasoning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810000" cy="630936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3718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5760" y="1234440"/>
            <a:ext cx="3810000" cy="630936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1480" y="1280160"/>
            <a:ext cx="3718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V1 — Agentic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5760" y="1234440"/>
            <a:ext cx="3810000" cy="630936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480" y="1280160"/>
            <a:ext cx="3718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V2 — LangGraph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65376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01952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1865376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1480" y="1901952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Single agent, all 17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760" y="1865376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1480" y="1901952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12 specialist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96312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32888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Reasoning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5760" y="2496312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1480" y="2532888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Autonomous tool selection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5760" y="2496312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1480" y="2532888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Structured routing by intent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27248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163824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Auditability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760" y="3127248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1480" y="3163824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Tool call 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5760" y="3127248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1480" y="3163824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Node-by-node execution trace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58184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794760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Latency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5760" y="3758184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1480" y="3794760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Faster for simple queries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5760" y="3758184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1480" y="3794760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Better for complex chains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89120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425696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Configurability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5760" y="4389120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1480" y="4425696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Max iterations slider (3–25)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5760" y="4389120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31480" y="4425696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Automatic per intent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20056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056632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Best for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5760" y="5020056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1480" y="5056632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Exploratory / conversational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85760" y="5020056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31480" y="5056632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Repeatable / structured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650992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687568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Context 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75760" y="5650992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21480" y="5687568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History summarization at 12 msgs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85760" y="5650992"/>
            <a:ext cx="3810000" cy="63093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31480" y="5687568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State graph accumulation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81928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318504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Transparency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5760" y="6281928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1480" y="6318504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Tool names + input preview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85760" y="6281928"/>
            <a:ext cx="381000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31480" y="6318504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Full node output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Improvements: Decision Support → Decision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810000" cy="52578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37185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4175760" y="1234440"/>
            <a:ext cx="3810000" cy="52578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1480" y="1280160"/>
            <a:ext cx="37185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985760" y="1234440"/>
            <a:ext cx="3810000" cy="52578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31480" y="1280160"/>
            <a:ext cx="37185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6022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967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5760" y="176022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1480" y="17967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Decision Memory &amp;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5760" y="176022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1480" y="17967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Recalibrate elasticity from actual outcomes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3225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5760" y="228600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1480" y="23225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Alert Triage Queue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60" y="228600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1480" y="23225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Proactively surface top 5 revenue-at-risk decisions daily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1178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8483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5760" y="281178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1480" y="28483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Cross-Category Elasticity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5760" y="281178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1480" y="28483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Huggies price up → store-brand diapers up 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33756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3741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75760" y="333756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1480" y="33741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Probabilistic Outcome Trees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85760" y="333756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1480" y="33741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40% revenue up / 35% flat / 25% down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6334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8999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5760" y="386334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1480" y="38999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NL ERP Execution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85760" y="386334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1480" y="38999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One-click: AI recommendation → SAP PO creation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38912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4256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75760" y="438912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1480" y="44256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Multi-Horizon Planning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85760" y="438912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1480" y="44256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2W operational / 8W tactical / 26W strategic simultaneous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91490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9514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75760" y="491490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1480" y="49514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Stakeholder-Specific Framing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85760" y="491490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31480" y="49514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Same analysis reframed for Buyer vs CFO vs Category Mgr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44068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4772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75760" y="544068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21480" y="54772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What-If Branching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85760" y="544068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31480" y="54772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Named scenario versions with rollback capability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96646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60030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75760" y="596646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21480" y="60030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Competitor Move Simulation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85760" y="596646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31480" y="60030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Costco drops 15% → AI recommends counter-strategy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49224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5288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75760" y="649224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21480" y="65288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Executive Summary Auto-Gen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5760" y="649224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31480" y="65288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1-page brief auto-generated for steering committee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Macro → Micro: How Every Decision Ripples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The AI reasons through all six layers simultaneously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2286000" cy="64008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990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261872"/>
            <a:ext cx="9144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399032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Price change / Supply event / Demand shift / Tariff / Seasonal / Competitive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56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757D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47672"/>
            <a:ext cx="228600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DEMAND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47672"/>
            <a:ext cx="9144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084832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Elasticity-adjusted volume · Promotional uplift · Forecast accuracy applied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757D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33472"/>
            <a:ext cx="2286000" cy="6400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INVENTORY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633472"/>
            <a:ext cx="9144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770632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Reorder points · Safety stock · Perishable cap · Planogram capacity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278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757D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19272"/>
            <a:ext cx="2286000" cy="6400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564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SUPPLY CHAIN 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3319272"/>
            <a:ext cx="9144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3456432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Carrier capacity · Regional coverage gaps · Lead time risk (+30% late)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913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757D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05072"/>
            <a:ext cx="2286000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42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FINANCIAL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4005072"/>
            <a:ext cx="9144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4142232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Revenue × Margin × Vendor trade netting × VMI exclusion × Carrying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99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757D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90872"/>
            <a:ext cx="2286000" cy="64008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8280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RANKED RECOMMENDATION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4690872"/>
            <a:ext cx="9144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828032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3 options: Proceed / Modify / Defer — with quantified trade-offs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Numbers Every Specialist Should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Hard constraints and parameters baked into every tool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810000" cy="52578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37185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5760" y="1234440"/>
            <a:ext cx="3810000" cy="52578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1480" y="1280160"/>
            <a:ext cx="37185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5760" y="1234440"/>
            <a:ext cx="3810000" cy="52578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480" y="1280160"/>
            <a:ext cx="37185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6022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967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Diaper price elasticity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176022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1480" y="17967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-1.4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760" y="176022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1480" y="17967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10% price hike → 14% volume drop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3225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Diaper recovery factor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5760" y="228600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1480" y="23225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5760" y="228600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1480" y="23225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Price cuts only recover 70% of lost demand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1178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8483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Tobacco recovery factor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760" y="281178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1480" y="28483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5760" y="281178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1480" y="28483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Very sticky — promotions don't move volume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3756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3741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Dairy max days-of-supply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5760" y="333756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1480" y="33741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 days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5760" y="333756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1480" y="33741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Hard cap — no exceptions regardless of signal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86334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8999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VMI share (Milk)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5760" y="386334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1480" y="38999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5760" y="386334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31480" y="38999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30% of milk inventory owned by vendor — excluded from cost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38912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4256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Replenishment lag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5760" y="438912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1480" y="44256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3–4 days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85760" y="438912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31480" y="442569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Order today = earliest shelves in 4 days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91490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9514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Late delivery probability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75760" y="491490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21480" y="49514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85760" y="491490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31480" y="495147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30% chance of +3 extra days on top of base lag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44068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4772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Forecast accuracy gate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5760" y="544068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1480" y="54772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60%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85760" y="544068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31480" y="547725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Below this: forecast blocked from entering PO system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96646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0030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TruckCo D premium (SE diapers)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75760" y="596646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21480" y="60030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+45%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85760" y="5966460"/>
            <a:ext cx="3810000" cy="525780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31480" y="600303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Only alternate carrier in SE region for diapers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649224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65288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Annual carrying rate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75760" y="649224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21480" y="65288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85760" y="6492240"/>
            <a:ext cx="381000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31480" y="6528816"/>
            <a:ext cx="3718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Cost of holding inventory for one year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DD8E6"/>
                </a:solidFill>
              </a:rPr>
              <a:t>🌐  retail-supply-chain-ai-hp2hz8kf9cjqfkr82wogkt.streamlit.app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DD8E6"/>
                </a:solidFill>
              </a:rPr>
              <a:t>GitHub:  github.com/Krishhs89/retail-supply-chain-ai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5FF"/>
                </a:solidFill>
              </a:rPr>
              <a:t>Built with  Claude claude-sonnet-4-6  ·  LangGraph  ·  Streamlit  ·  Python 3.13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C0D8"/>
                </a:solidFill>
              </a:rPr>
              <a:t>Interview Kickstart — Agentic AI Capstone Project  ·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Domain Deep-Dive: Asymmetric Price Elasticity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Why standard elasticity models are wrong for tobacco, diapers, alcohol, infant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1417320"/>
          </a:xfrm>
          <a:prstGeom prst="rect">
            <a:avLst/>
          </a:prstGeom>
          <a:solidFill>
            <a:srgbClr val="F0F4FF"/>
          </a:solidFill>
          <a:ln w="9525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CE"/>
                </a:solidFill>
              </a:rPr>
              <a:t>Standard formula:  Demand_delta% = Elasticity × Price_delta%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Asymmetric adjustment:  Price ↑ → use full elasticity  |  Price ↓ → multiply by recovery_factor (0.40–0.72)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3545"/>
                </a:solidFill>
              </a:rPr>
              <a:t>Example: HUG48-3 elasticity=-1.4, recovery=0.70  →  +10% price: -14% demand  |  -10% price: +9.8% demand (not +14%)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2286000" cy="539496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889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SKU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743200"/>
            <a:ext cx="2286000" cy="539496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7889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743200"/>
            <a:ext cx="2286000" cy="539496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7889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Elasticity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743200"/>
            <a:ext cx="2286000" cy="539496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7889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Recovery Factor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2743200"/>
            <a:ext cx="2286000" cy="539496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7889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82696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1927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HUG48-3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282696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31927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Huggies diapers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3282696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331927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-1.4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282696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31927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0.70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3282696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331927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Habit-driven — switching cost is 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22192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858768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PAM72-5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3822192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3858768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Pampers diapers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3822192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3858768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-1.35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822192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3858768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0.72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3822192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3858768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Brand loyal segment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361688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398264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CIG-PKT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4361688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97480" y="4398264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Cigarettes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4361688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4398264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-0.50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4361688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9480" y="4398264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4361688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5480" y="4398264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Very addictive — price cuts barely move volume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01184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93776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MLK-GAL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51760" y="4901184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7480" y="493776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Whole milk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0" y="4901184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83480" y="493776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-0.60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4901184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9480" y="493776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760" y="4901184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55480" y="493776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Commodity — symmetric, no brand lock-in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440680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477256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TAB-DIN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51760" y="5440680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97480" y="5477256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Dinnerware set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5440680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5477256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-0.90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5440680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69480" y="5477256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760" y="5440680"/>
            <a:ext cx="2286000" cy="539496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55480" y="5477256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Discretionary — symmetric behavior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980176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601675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BLK-THR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51760" y="5980176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601675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Fleece blanket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37760" y="5980176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3480" y="601675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-1.10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23760" y="5980176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69480" y="601675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09760" y="5980176"/>
            <a:ext cx="22860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55480" y="6016752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Seasonal — symmetric demand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6080760"/>
            <a:ext cx="1143000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1447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Interview insight: A symmetric model overestimates promo lift by 30–60% for habit-driven categories. At $2B diaper revenue, that's $60M–$120M in misprojected promo ROI.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Domain Deep-Dive: Demand → PO → Shelf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The full replenishment signal path and where errors compound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2194560" cy="384048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31673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DEMAND 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2194560" cy="396849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15-variable multiplicative model
CI widens +15% per 4 weeks
Gate: MAPE &lt; 60% → blocked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199339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CE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261872"/>
            <a:ext cx="219456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2344" y="131673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PURCHASE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664208"/>
            <a:ext cx="2194560" cy="396849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17373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Buyer commits PO against demand signal
Error in signal → error in PO → error in stock
1% MAPE improvement = ~$5B efficiency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199339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CE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261872"/>
            <a:ext cx="2194560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131673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DC RECEIVING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8344" y="1664208"/>
            <a:ext cx="2194560" cy="396849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17373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HQ→DC: 1–2 days
DC processes + allocates to stores
OLAP lag: DC inventory may be 24h stale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199339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CE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1261872"/>
            <a:ext cx="219456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131673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STORE REPLENISHMENT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97496" y="1664208"/>
            <a:ext cx="2194560" cy="396849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8936" y="17373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DC→Store: 2–3 days
30% chance of +3 extra days
Effective lag: 3.9–4.9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99339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CE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6648" y="1261872"/>
            <a:ext cx="219456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131673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SHELF → 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56648" y="1664208"/>
            <a:ext cx="2194560" cy="396849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8088" y="17373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Planogram cap enforced
Perishable DOS cap enforced
Stockout = lost sale + customer churn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806440"/>
            <a:ext cx="11521440" cy="50292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85216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Key rule: If days_on_hand &lt; effective_lag → shelf goes empty before the truck arrives. Trigger emergency replenishment NOW.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ROI: Quantifying the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Every number is traceable to a specific calculation in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810000" cy="62179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5760" y="1234440"/>
            <a:ext cx="3810000" cy="62179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1480" y="1280160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Calculation Basis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5760" y="1234440"/>
            <a:ext cx="3810000" cy="62179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480" y="1280160"/>
            <a:ext cx="3718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Estimated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56232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92808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Demand accuracy +7 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1856232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1480" y="1892808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$500B revenue × 1% improvement = $5B efficiency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760" y="1856232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1480" y="1892808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$35B efficiency potential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78024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14600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Stockout prevention (14-day strike)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5760" y="2478024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1480" y="2514600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10 stores × 7.1 units/day × 14d × $14.49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5760" y="2478024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1480" y="2514600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$145K per SKU per event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99816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136392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Network strike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760" y="3099816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1480" y="3136392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30 stores × 6 SKUs × daily revenue at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5760" y="3099816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1480" y="3136392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$2.84M per strike window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21608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758184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Wrong PO cost avoided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5760" y="3721608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1480" y="3758184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5% PO accuracy × $50B annual purchasing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5760" y="3721608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1480" y="3758184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$250M annual savings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43400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379976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Promo/conflict averted (quarterly)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5760" y="4343400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1480" y="4379976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 conflict × $500K–$2M averted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5760" y="4343400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31480" y="4379976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$2M–$8M annual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965192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001768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Asymmetric elasticity error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5760" y="4965192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1480" y="5001768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4% perm. demand loss × $2B diaper revenue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85760" y="4965192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31480" y="5001768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$80M per mispriced product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586984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623560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OLAP vs WMS data decision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75760" y="5586984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21480" y="5623560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Emergency order on stale data: +900 excess units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85760" y="5586984"/>
            <a:ext cx="3810000" cy="6217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31480" y="5623560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$13K wasted per incident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08776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245352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Perishable write-off avoided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5760" y="6208776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1480" y="6245352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Dairy cap: 3-day DOS prevents markdown waste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85760" y="6208776"/>
            <a:ext cx="3810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31480" y="6245352"/>
            <a:ext cx="371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$50K–$200K per DC per year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6236208"/>
            <a:ext cx="1143000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2910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One averted promo+disruption conflict per quarter = $2M+ saved. System cost at enterprise scale: ~$90K/month. ROI: 22× in year 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Cost Structure: LLM API + 5 Optimizations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Claude claude-sonnet-4-6: ~$3/M input tokens · ~$15/M output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286000" cy="566928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Query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234440"/>
            <a:ext cx="2286000" cy="566928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28016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Input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34440"/>
            <a:ext cx="2286000" cy="566928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28016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Output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234440"/>
            <a:ext cx="2286000" cy="566928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28016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Cost/Query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234440"/>
            <a:ext cx="2286000" cy="566928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28016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Monthly (1K/day)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01368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837944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Simple (1 tool, 6 iterations)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801368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1837944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~2,000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801368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837944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801368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1837944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$0.014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801368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837944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$420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368296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40487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Standard (3 tools, 10 iterations)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368296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240487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2368296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240487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~1,000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368296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240487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$0.030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368296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240487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$900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935224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97180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Complex (5+ tools, 20 iterations)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2935224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297180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~8,500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935224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297180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~1,500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2935224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297180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$0.047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0" y="2935224"/>
            <a:ext cx="2286000" cy="566928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297180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$1,410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02152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53872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History summarization (at 12+ msgs)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3502152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353872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~3,000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3502152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3480" y="353872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~600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3502152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69480" y="353872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$0.018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3502152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5480" y="353872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Occasional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3429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E"/>
                </a:solidFill>
              </a:rPr>
              <a:t>5 Cost Optimizations Implemented in v3.2: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794760"/>
            <a:ext cx="2377440" cy="457200"/>
          </a:xfrm>
          <a:prstGeom prst="rect">
            <a:avLst/>
          </a:prstGeom>
          <a:solidFill>
            <a:srgbClr val="CCE5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8679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Token differentiation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3794760"/>
            <a:ext cx="9006840" cy="4572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26080" y="3867912"/>
            <a:ext cx="8823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summary=600, std=4096, complex=8096 (was all 8096)  →  ~30% savings on standard calls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306824"/>
            <a:ext cx="2377440" cy="457200"/>
          </a:xfrm>
          <a:prstGeom prst="rect">
            <a:avLst/>
          </a:prstGeom>
          <a:solidFill>
            <a:srgbClr val="D4EDD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37997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_slim_tool_result()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4306824"/>
            <a:ext cx="9006840" cy="4572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4379976"/>
            <a:ext cx="8823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Strip provenance/freshness before LLM feed-back  →  ~30% fewer tokens per tool result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818888"/>
            <a:ext cx="2377440" cy="457200"/>
          </a:xfrm>
          <a:prstGeom prst="rect">
            <a:avLst/>
          </a:prstGeom>
          <a:solidFill>
            <a:srgbClr val="FFF3CD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89204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TTL cache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4818888"/>
            <a:ext cx="9006840" cy="4572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0" y="4892040"/>
            <a:ext cx="8823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OLTP=5min, WMS=15min, OLAP=24hr  →  cache hit = $0 API cost, ~20% hit rate saves ~$50/day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5330952"/>
            <a:ext cx="2377440" cy="457200"/>
          </a:xfrm>
          <a:prstGeom prst="rect">
            <a:avLst/>
          </a:prstGeom>
          <a:solidFill>
            <a:srgbClr val="F8D7D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40410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Rate limiting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4640" y="5330952"/>
            <a:ext cx="9006840" cy="4572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26080" y="5404104"/>
            <a:ext cx="8823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30 queries/session max  →  prevents runaway budget exhaustion on shared Cloud deployment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843016"/>
            <a:ext cx="2377440" cy="457200"/>
          </a:xfrm>
          <a:prstGeom prst="rect">
            <a:avLst/>
          </a:prstGeom>
          <a:solidFill>
            <a:srgbClr val="E8D5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91616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History summarization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34640" y="5843016"/>
            <a:ext cx="9006840" cy="4572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26080" y="5916168"/>
            <a:ext cx="8823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Compress at 12+ messages, max 600 tokens  →  fixed context overhead regardless of length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Components: Why · What ·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Four core components that power every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1920240" cy="1179576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Claude claude-sonnet-4-6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261872"/>
            <a:ext cx="9464040" cy="117957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316736"/>
            <a:ext cx="9281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1CE"/>
                </a:solidFill>
              </a:rPr>
              <a:t>WHY: Native tool-use JSON in/out; 200K context; best instruction-following for 47 supply chain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09344"/>
            <a:ext cx="9281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WHAT: Reasoning engine that selects tools, interprets results, decides 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20240"/>
            <a:ext cx="9281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HOW: messages.create(tools=ALL_TOOLS) → stop_reason=tool_use → execute → feed back → repeat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96312"/>
            <a:ext cx="1920240" cy="1179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87752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LangGraph Multi-Agent Graph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496312"/>
            <a:ext cx="9464040" cy="117957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2551176"/>
            <a:ext cx="9281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1CE"/>
                </a:solidFill>
              </a:rPr>
              <a:t>WHY: Explicit routing + TypedDict state + per-node prompts = audit-ready, governed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43784"/>
            <a:ext cx="9281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WHAT: 12 specialist nodes (Router→Domain→Synthesizer), each with curated tool subset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154680"/>
            <a:ext cx="9281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HOW: StateGraph + add_conditional_edges(router, lambda s: s['intent'], {intent: node})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30752"/>
            <a:ext cx="1920240" cy="1179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22192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Tool Layer (17 tools)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730752"/>
            <a:ext cx="9464040" cy="117957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3785616"/>
            <a:ext cx="9281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1CE"/>
                </a:solidFill>
              </a:rPr>
              <a:t>WHY: Tools compute live values — stockout risk, elasticity, revenue — not static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078224"/>
            <a:ext cx="9281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WHAT: 17 domain tools covering pricing, demand, inventory, supply, finance, 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389120"/>
            <a:ext cx="9281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HOW: JSON Schema → Claude calls → mock_executor.execute() → ToolResult (data/error/provenance)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65192"/>
            <a:ext cx="1920240" cy="1179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56632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TTL Cache + Input 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4965192"/>
            <a:ext cx="9464040" cy="117957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5020056"/>
            <a:ext cx="9281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1CE"/>
                </a:solidFill>
              </a:rPr>
              <a:t>WHY: Cache cuts ~30% API costs; validation blocks LLM hallucinations from reaching business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312664"/>
            <a:ext cx="9281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WHAT: Cache keyed on tool_name+sorted_input; TTL by data source cadence; SKU/price whitelists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623560"/>
            <a:ext cx="9281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HOW: _cache_get(key) before fn(); _cache_set(key, result) after; write tools bypass cache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Every major choice made with explicit rationale — ready for interview deep-dives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857500" cy="50749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766060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3260" y="1234440"/>
            <a:ext cx="2857500" cy="50749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8980" y="1280160"/>
            <a:ext cx="2766060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234440"/>
            <a:ext cx="2857500" cy="50749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2766060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38260" y="1234440"/>
            <a:ext cx="2857500" cy="50749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3980" y="1280160"/>
            <a:ext cx="2766060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41932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78508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LLM provider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260" y="1741932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8980" y="1778508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Anthropic Claude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741932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778508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OpenAI GPT-4o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8260" y="1741932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3980" y="1778508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Better tool-use, larger context, instruction-following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49424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286000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Multi-agent framework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2249424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8980" y="2286000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LangGraph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249424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286000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CrewAI, AutoGen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38260" y="2249424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3980" y="2286000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Explicit routing, TypedDict state, auditability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56916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793492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UI framework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23260" y="2756916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8980" y="2793492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Streamlit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2756916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2793492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Flask+React, Dash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38260" y="2756916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3980" y="2793492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Python-native, st.status() for agentic loops, free cloud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64408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300984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Memory strategy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23260" y="3264408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8980" y="3300984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In-session summarization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3264408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300984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Full conversation, ext. DB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38260" y="3264408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83980" y="3300984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Balance cost vs. context quality; no vendor dependency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771900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808476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Tool execution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23260" y="3771900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68980" y="3808476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Pure Python mock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3771900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808476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SQLite, REST APIs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38260" y="3771900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83980" y="3808476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Zero dependency; edge cases always reproducible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279392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315968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Prompt storage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23260" y="4279392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68980" y="4315968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prompts/system_prompt.txt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4279392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4315968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Inline Python string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8260" y="4279392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83980" y="4315968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Edit without code deploy; separately versionable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786884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4823460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Token budgets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23260" y="4786884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68980" y="4823460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Differentiated 600/4096/8096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60" y="4786884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0" y="4823460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Single global 8096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38260" y="4786884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3980" y="4823460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30% cost reduction for standard queries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294376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5330952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Tool results to LLM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23260" y="5294376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68980" y="5330952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_slim_tool_result()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0760" y="5294376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5330952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Full result dict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38260" y="5294376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3980" y="5330952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Strip provenance saves ~30% tokens per tool call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801868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5838444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Security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23260" y="5801868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68980" y="5838444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Whitelist + rate limit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80760" y="5801868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26480" y="5838444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 validation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38260" y="5801868"/>
            <a:ext cx="2857500" cy="507492"/>
          </a:xfrm>
          <a:prstGeom prst="rect">
            <a:avLst/>
          </a:prstGeom>
          <a:solidFill>
            <a:srgbClr val="F0F4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3980" y="5838444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Prevent hallucinated SKUs, prompt injection, budget blowout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6309360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6345936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Data sourcing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23260" y="6309360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68980" y="6345936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Mock layer (proof of concept)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80760" y="6309360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26480" y="6345936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Real APIs from day 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38260" y="6309360"/>
            <a:ext cx="28575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3980" y="6345936"/>
            <a:ext cx="27660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Faster demo; same ToolResult contract for production swap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Interview Q&amp;A: Top 5 Questions &amp; Model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Concise answers — use INTERVIEW_PREP.md for full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2926080" cy="941832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274320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Q1: Walk me through what happens when a user sends a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261872"/>
            <a:ext cx="8458200" cy="941832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1353312"/>
            <a:ext cx="8275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Classify complexity (6/10/20 iter) → summarize if 12+ msgs → send to Claude with 17 tools → Claude calls tools → validate input → check cache → execute → slim result (strip provenance) → feed back → repeat until end_turn → stream response + data caveats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58568"/>
            <a:ext cx="2926080" cy="94183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74320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Q2: Why LangGraph over CrewAI/AutoGen?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258568"/>
            <a:ext cx="8458200" cy="941832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350008"/>
            <a:ext cx="8275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Explicit routing (you define edges, not agents negotiating) · TypedDict state flows through all nodes · per-node domain prompts · node-by-node audit trail. For dollar-consequence decisions, auditability &gt; autonomy.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55264"/>
            <a:ext cx="2926080" cy="9418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28416"/>
            <a:ext cx="274320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Q3: How do you handle prompt injection / malicious inputs?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255264"/>
            <a:ext cx="8458200" cy="941832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3346704"/>
            <a:ext cx="8275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layers: (1) Input validation — SKU/carrier/location whitelists before any business logic; (2) System prompt 47 non-negotiables are hard to override; (3) Rate limiting — 30 queries/session max. Production adds OAuth2 + per-user budgets.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51960"/>
            <a:ext cx="2926080" cy="94183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25112"/>
            <a:ext cx="274320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Q4: What would you change to productionize this?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251960"/>
            <a:ext cx="8458200" cy="941832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4343400"/>
            <a:ext cx="8275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FastAPI + React (not single-process Streamlit) · real data connectors (Blue Yonder WMS, SAP, Snowflake) · ERP execution hooks (AI recommends → buyer approves → SAP places PO) · vector memory (Pinecone) · proactive alert queue (daily agent sweep).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48656"/>
            <a:ext cx="2926080" cy="9418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21808"/>
            <a:ext cx="274320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Q5: What's the token cost on a complex query and how did you optimize it?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5248656"/>
            <a:ext cx="8458200" cy="941832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5340096"/>
            <a:ext cx="8275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Complex query: ~6,380 input + 1,200 output tokens ≈ $0.037. Optimizations: differentiated max_tokens (−30% for standard) · _slim_tool_result() strips provenance (−30% per tool call) · TTL cache (~20% hit rate) · history summarization (fixed overhead at 12+ msgs).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